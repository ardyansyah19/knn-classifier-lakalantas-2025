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85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42850"/>
                </a:solidFill>
                <a:latin typeface="Calibri"/>
              </a:rPr>
              <a:t>Distribusi Kelas Target (n = 300)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Jumlah Data</c:v>
                </c:pt>
              </c:strCache>
            </c:strRef>
          </c:tx>
          <c:spPr>
            <a:solidFill>
              <a:srgbClr val="A6263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85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6263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428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A6C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Meninggal Dunia</c:v>
                  </c:pt>
                  <c:pt idx="1">
                    <c:v>Luka Berat</c:v>
                  </c:pt>
                  <c:pt idx="2">
                    <c:v>Luka Ringan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125</c:v>
                </c:pt>
                <c:pt idx="1">
                  <c:v>115</c:v>
                </c:pt>
                <c:pt idx="2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285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7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F428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548640"/>
            <a:ext cx="3291840" cy="3291840"/>
          </a:xfrm>
          <a:prstGeom prst="ellipse">
            <a:avLst/>
          </a:prstGeom>
          <a:solidFill>
            <a:srgbClr val="D6455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754880"/>
            <a:ext cx="4206240" cy="4206240"/>
          </a:xfrm>
          <a:prstGeom prst="ellipse">
            <a:avLst/>
          </a:prstGeom>
          <a:solidFill>
            <a:srgbClr val="1F4287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AKHIR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96012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Klasifikasi Tingkat Keparahan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Kecelakaan Lalu Lintas Menggunakan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Algoritma K-Nearest Neighbor (KNN)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868680" y="3886200"/>
            <a:ext cx="2194560" cy="0"/>
          </a:xfrm>
          <a:prstGeom prst="line">
            <a:avLst/>
          </a:prstGeom>
          <a:noFill/>
          <a:ln w="31750">
            <a:solidFill>
              <a:srgbClr val="D64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233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300 data kecelakaan lalu lintas dengan 10 atribut prediktor,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diklasifikasikan ke dalam tiga kategori: Meninggal Dunia, Luka Berat, dan Luka Ringan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892040"/>
            <a:ext cx="7863840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3A50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5029200"/>
            <a:ext cx="7406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Riko Dyansyah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NBI 1462400002  |  Program Studi Teknik Informatika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Fakultas Teknologi Elektro dan Informatika Cerdas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17 Agustus 1945 Surabaya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6446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Dosen Pembimbing:  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Mahmud Suyuti, S.Kom., M.Kom.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PRESENTASI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akan dibahas hari ini?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74920" cy="1481328"/>
          </a:xfrm>
          <a:prstGeom prst="roundRect">
            <a:avLst>
              <a:gd name="adj" fmla="val 5556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5623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E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645920" y="18928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25856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keparahan kecelakaan penting diklasifikasikan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54864" cy="1481328"/>
          </a:xfrm>
          <a:prstGeom prst="rect">
            <a:avLst/>
          </a:prstGeom>
          <a:solidFill>
            <a:srgbClr val="1F4287"/>
          </a:solidFill>
          <a:ln/>
        </p:spPr>
      </p:sp>
      <p:sp>
        <p:nvSpPr>
          <p:cNvPr id="9" name="Shape 7"/>
          <p:cNvSpPr/>
          <p:nvPr/>
        </p:nvSpPr>
        <p:spPr>
          <a:xfrm>
            <a:off x="6080760" y="1691640"/>
            <a:ext cx="5074920" cy="1481328"/>
          </a:xfrm>
          <a:prstGeom prst="roundRect">
            <a:avLst>
              <a:gd name="adj" fmla="val 5556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85623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E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178040" y="18928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Rumusan Masalah &amp; Tujuan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78040" y="225856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penelitian dan target yang dicapai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0760" y="1691640"/>
            <a:ext cx="54864" cy="1481328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337560"/>
            <a:ext cx="5074920" cy="1481328"/>
          </a:xfrm>
          <a:prstGeom prst="roundRect">
            <a:avLst>
              <a:gd name="adj" fmla="val 5556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50215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E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1645920" y="35387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 Algoritma KNN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390448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kerja KNN dengan bahasa sederhana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337560"/>
            <a:ext cx="54864" cy="1481328"/>
          </a:xfrm>
          <a:prstGeom prst="rect">
            <a:avLst/>
          </a:prstGeom>
          <a:solidFill>
            <a:srgbClr val="1F4287"/>
          </a:solidFill>
          <a:ln/>
        </p:spPr>
      </p:sp>
      <p:sp>
        <p:nvSpPr>
          <p:cNvPr id="19" name="Shape 17"/>
          <p:cNvSpPr/>
          <p:nvPr/>
        </p:nvSpPr>
        <p:spPr>
          <a:xfrm>
            <a:off x="6080760" y="3337560"/>
            <a:ext cx="5074920" cy="1481328"/>
          </a:xfrm>
          <a:prstGeom prst="roundRect">
            <a:avLst>
              <a:gd name="adj" fmla="val 5556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350215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E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178040" y="35387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Metodologi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78040" y="390448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tahapan preprocessing, dan konfigurasi model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80760" y="3337560"/>
            <a:ext cx="54864" cy="1481328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983480"/>
            <a:ext cx="5074920" cy="1481328"/>
          </a:xfrm>
          <a:prstGeom prst="roundRect">
            <a:avLst>
              <a:gd name="adj" fmla="val 5556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1480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E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1645920" y="51846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&amp; Analisis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645920" y="555040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Akurasi, stabilitas model, dan confusion matrix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983480"/>
            <a:ext cx="54864" cy="1481328"/>
          </a:xfrm>
          <a:prstGeom prst="rect">
            <a:avLst/>
          </a:prstGeom>
          <a:solidFill>
            <a:srgbClr val="1F4287"/>
          </a:solidFill>
          <a:ln/>
        </p:spPr>
      </p:sp>
      <p:sp>
        <p:nvSpPr>
          <p:cNvPr id="29" name="Shape 27"/>
          <p:cNvSpPr/>
          <p:nvPr/>
        </p:nvSpPr>
        <p:spPr>
          <a:xfrm>
            <a:off x="6080760" y="4983480"/>
            <a:ext cx="5074920" cy="1481328"/>
          </a:xfrm>
          <a:prstGeom prst="roundRect">
            <a:avLst>
              <a:gd name="adj" fmla="val 5556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51480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E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7178040" y="51846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 &amp; Saran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78040" y="555040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temuan dan arah pengembangan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080760" y="4983480"/>
            <a:ext cx="54864" cy="1481328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 Tingkat Keparahan Kecelakaan Lalu Lintas Menggunakan K-Nearest Neighbor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LATAR BELAKANG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Kecelakaan lalu lintas: masalah keselamatan yang terus berulang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Kecelakaan lalu lintas setiap tahun menimbulkan kerugian material, luka-luka, hingga korban jiwa. Tingkat keparahannya dipengaruhi banyak faktor sehingga sulit dinilai secara manual dan objektif.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faktor yang memengaruhi tingkat keparahan: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227832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312724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Usia &amp; jenis kelamin korban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11880" y="3227832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9" name="Text 7"/>
          <p:cNvSpPr/>
          <p:nvPr/>
        </p:nvSpPr>
        <p:spPr>
          <a:xfrm>
            <a:off x="3867912" y="312724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kejadian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30752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63016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kendaraan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11880" y="3730752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3" name="Text 11"/>
          <p:cNvSpPr/>
          <p:nvPr/>
        </p:nvSpPr>
        <p:spPr>
          <a:xfrm>
            <a:off x="3867912" y="363016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Kondisi cuaca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33672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413308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jalan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11880" y="4233672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7" name="Text 15"/>
          <p:cNvSpPr/>
          <p:nvPr/>
        </p:nvSpPr>
        <p:spPr>
          <a:xfrm>
            <a:off x="3867912" y="413308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Penggunaan alat keselamatan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736592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463600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Kecepatan kendaraan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11880" y="4736592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1" name="Text 19"/>
          <p:cNvSpPr/>
          <p:nvPr/>
        </p:nvSpPr>
        <p:spPr>
          <a:xfrm>
            <a:off x="3867912" y="463600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kendaraan terlibat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25780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1F4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memungkinkan pola-pola dari data historis kecelakaan dipelajari secara otomatis — sehingga tingkat keparahan dapat diprediksi lebih cepat dan objektif dibanding analisis manual.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903720" y="1508760"/>
            <a:ext cx="4709160" cy="4754880"/>
          </a:xfrm>
          <a:prstGeom prst="roundRect">
            <a:avLst>
              <a:gd name="adj" fmla="val 1942"/>
            </a:avLst>
          </a:prstGeom>
          <a:solidFill>
            <a:srgbClr val="142850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1783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Fenomena Global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23760" y="214884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3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Kecelakaan lalu lintas termasuk salah satu penyebab kematian utama di dunia, menjadikan klasifikasi risiko kecelakaan penting bagi otoritas transportasi.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223760" y="3520440"/>
            <a:ext cx="4114800" cy="0"/>
          </a:xfrm>
          <a:prstGeom prst="line">
            <a:avLst/>
          </a:prstGeom>
          <a:noFill/>
          <a:ln w="12700">
            <a:solidFill>
              <a:srgbClr val="3A50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37033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28" name="Text 26"/>
          <p:cNvSpPr/>
          <p:nvPr/>
        </p:nvSpPr>
        <p:spPr>
          <a:xfrm>
            <a:off x="7223760" y="44348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keparahan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diklasifikasikan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326880" y="37033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600" dirty="0"/>
          </a:p>
        </p:txBody>
      </p:sp>
      <p:sp>
        <p:nvSpPr>
          <p:cNvPr id="30" name="Text 28"/>
          <p:cNvSpPr/>
          <p:nvPr/>
        </p:nvSpPr>
        <p:spPr>
          <a:xfrm>
            <a:off x="9326880" y="44348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 / fitur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prediktor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223760" y="5166360"/>
            <a:ext cx="4114800" cy="0"/>
          </a:xfrm>
          <a:prstGeom prst="line">
            <a:avLst/>
          </a:prstGeom>
          <a:noFill/>
          <a:ln w="12700">
            <a:solidFill>
              <a:srgbClr val="3A507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53492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4600" dirty="0"/>
          </a:p>
        </p:txBody>
      </p:sp>
      <p:sp>
        <p:nvSpPr>
          <p:cNvPr id="33" name="Text 31"/>
          <p:cNvSpPr/>
          <p:nvPr/>
        </p:nvSpPr>
        <p:spPr>
          <a:xfrm>
            <a:off x="7223760" y="6035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historis kecelakaan yang dianalisis dalam penelitian ini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 Tingkat Keparahan Kecelakaan Lalu Lintas Menggunakan K-Nearest Neighbor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RUMUSAN MASALAH &amp; TUJUAN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Rumusan masalah dan tujuan penelitian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14285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90195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Rumusan Masalah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26060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428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06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2551176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mengklasifikasikan tingkat keparahan kecelakaan (Meninggal Dunia, Luka Berat, Luka Ringan) berdasarkan karakteristik korban dan kejadian?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37764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428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776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3721608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Seberapa akurat dan stabil algoritma KNN dalam memprediksi keparahan kecelakaan pada dataset ini?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494690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4287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946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489204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Berapa nilai k (jumlah tetangga) yang memberikan performa klasifikasi terbaik?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1600200"/>
            <a:ext cx="5349240" cy="4663440"/>
          </a:xfrm>
          <a:prstGeom prst="roundRect">
            <a:avLst>
              <a:gd name="adj" fmla="val 1961"/>
            </a:avLst>
          </a:prstGeom>
          <a:solidFill>
            <a:srgbClr val="142850"/>
          </a:solidFill>
          <a:ln/>
        </p:spPr>
      </p:sp>
      <p:sp>
        <p:nvSpPr>
          <p:cNvPr id="18" name="Shape 16"/>
          <p:cNvSpPr/>
          <p:nvPr/>
        </p:nvSpPr>
        <p:spPr>
          <a:xfrm>
            <a:off x="6537960" y="1874520"/>
            <a:ext cx="502920" cy="50292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223760" y="19019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Penelitian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537960" y="2633472"/>
            <a:ext cx="128016" cy="128016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2478024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3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model klasifikasi KNN untuk memprediksi tingkat keparahan kecelakaan lalu lintas.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37960" y="3529584"/>
            <a:ext cx="128016" cy="128016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3374136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3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Mengevaluasi performa dan kestabilan model melalui 200 kali percobaan pembagian data acak.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37960" y="4425696"/>
            <a:ext cx="128016" cy="128016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6" name="Text 24"/>
          <p:cNvSpPr/>
          <p:nvPr/>
        </p:nvSpPr>
        <p:spPr>
          <a:xfrm>
            <a:off x="6812280" y="427024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3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nilai k optimal melalui analisis sensitivitas (k = 1 hingga 20).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37960" y="5321808"/>
            <a:ext cx="128016" cy="128016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8" name="Text 26"/>
          <p:cNvSpPr/>
          <p:nvPr/>
        </p:nvSpPr>
        <p:spPr>
          <a:xfrm>
            <a:off x="6812280" y="51663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3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Memberikan wawasan berbasis data bagi otoritas transportasi dalam prioritas penanganan keselamatan.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 Tingkat Keparahan Kecelakaan Lalu Lintas Menggunakan K-Nearest Neighbor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MENGENAL ALGORITMA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K-Nearest Neighbor (KNN)?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mengklasifikasikan data baru berdasarkan kemiripan dengan data-data di sekitarnya — cukup dengan melihat “k” tetangga terdekat, lalu mengambil suara terbanyak.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120640" cy="3977640"/>
          </a:xfrm>
          <a:prstGeom prst="roundRect">
            <a:avLst>
              <a:gd name="adj" fmla="val 2299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 Sederhana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Bayangkan Anda pindah ke lingkungan baru dan ingin tahu apakah daerah itu ramai atau sepi. Anda bertanya kepada 5 tetangga terdekat — jika mayoritas bilang “ramai”, Anda simpulkan daerah itu ramai.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1F4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bekerja dengan cara yang sama: kasus kecelakaan baru dibandingkan dengan kasus-kasus lama yang paling “mirip” (jarak fiturnya paling dekat), kemudian kategori keparahannya ditentukan dari mayoritas k kasus termirip tersebut.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2286000"/>
            <a:ext cx="56692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2468880"/>
            <a:ext cx="548640" cy="548640"/>
          </a:xfrm>
          <a:prstGeom prst="ellipse">
            <a:avLst/>
          </a:prstGeom>
          <a:solidFill>
            <a:srgbClr val="1F4287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858000" y="24140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jarak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0" y="274320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Mengukur seberapa mirip data baru dengan setiap data lama (jarak Euclidean)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0" y="3639312"/>
            <a:ext cx="56692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3822192"/>
            <a:ext cx="548640" cy="548640"/>
          </a:xfrm>
          <a:prstGeom prst="ellipse">
            <a:avLst/>
          </a:prstGeom>
          <a:solidFill>
            <a:srgbClr val="1F4287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822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58000" y="37673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k tetangga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4096512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 k data lama yang paling dekat/mirip, misal k = 5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4992624"/>
            <a:ext cx="56692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5175504"/>
            <a:ext cx="548640" cy="54864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51755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0" y="5120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mayoritas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5449824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keparahan ditentukan dari kategori yang paling banyak muncul di antara k tetangga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 Tingkat Keparahan Kecelakaan Lalu Lintas Menggunakan K-Nearest Neighbor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DATASET &amp; METODOLOGI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penelitian secara keseluruhan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67512" y="283464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42850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2926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A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324612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Kecelakaan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4206240"/>
            <a:ext cx="1746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data, 10 fitur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3424428"/>
            <a:ext cx="219456" cy="237744"/>
          </a:xfrm>
          <a:prstGeom prst="chevron">
            <a:avLst/>
          </a:prstGeom>
          <a:solidFill>
            <a:srgbClr val="B9C4D4"/>
          </a:solidFill>
          <a:ln/>
        </p:spPr>
      </p:sp>
      <p:sp>
        <p:nvSpPr>
          <p:cNvPr id="9" name="Shape 7"/>
          <p:cNvSpPr/>
          <p:nvPr/>
        </p:nvSpPr>
        <p:spPr>
          <a:xfrm>
            <a:off x="2889504" y="283464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42850"/>
          </a:solidFill>
          <a:ln/>
        </p:spPr>
      </p:sp>
      <p:sp>
        <p:nvSpPr>
          <p:cNvPr id="10" name="Text 8"/>
          <p:cNvSpPr/>
          <p:nvPr/>
        </p:nvSpPr>
        <p:spPr>
          <a:xfrm>
            <a:off x="3026664" y="2926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A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99232" y="324612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999232" y="4206240"/>
            <a:ext cx="1746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 &amp; standardisasi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73752" y="3424428"/>
            <a:ext cx="219456" cy="237744"/>
          </a:xfrm>
          <a:prstGeom prst="chevron">
            <a:avLst/>
          </a:prstGeom>
          <a:solidFill>
            <a:srgbClr val="B9C4D4"/>
          </a:solidFill>
          <a:ln/>
        </p:spPr>
      </p:sp>
      <p:sp>
        <p:nvSpPr>
          <p:cNvPr id="14" name="Shape 12"/>
          <p:cNvSpPr/>
          <p:nvPr/>
        </p:nvSpPr>
        <p:spPr>
          <a:xfrm>
            <a:off x="5111496" y="283464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42850"/>
          </a:solidFill>
          <a:ln/>
        </p:spPr>
      </p:sp>
      <p:sp>
        <p:nvSpPr>
          <p:cNvPr id="15" name="Text 13"/>
          <p:cNvSpPr/>
          <p:nvPr/>
        </p:nvSpPr>
        <p:spPr>
          <a:xfrm>
            <a:off x="5248656" y="2926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A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21224" y="324612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4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221224" y="4206240"/>
            <a:ext cx="1746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latih · 20% uji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95744" y="3424428"/>
            <a:ext cx="219456" cy="237744"/>
          </a:xfrm>
          <a:prstGeom prst="chevron">
            <a:avLst/>
          </a:prstGeom>
          <a:solidFill>
            <a:srgbClr val="B9C4D4"/>
          </a:solidFill>
          <a:ln/>
        </p:spPr>
      </p:sp>
      <p:sp>
        <p:nvSpPr>
          <p:cNvPr id="19" name="Shape 17"/>
          <p:cNvSpPr/>
          <p:nvPr/>
        </p:nvSpPr>
        <p:spPr>
          <a:xfrm>
            <a:off x="7333488" y="283464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42850"/>
          </a:solidFill>
          <a:ln/>
        </p:spPr>
      </p:sp>
      <p:sp>
        <p:nvSpPr>
          <p:cNvPr id="20" name="Text 18"/>
          <p:cNvSpPr/>
          <p:nvPr/>
        </p:nvSpPr>
        <p:spPr>
          <a:xfrm>
            <a:off x="7470648" y="2926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A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43216" y="324612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443216" y="4206240"/>
            <a:ext cx="1746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5, Euclidean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317736" y="3424428"/>
            <a:ext cx="219456" cy="237744"/>
          </a:xfrm>
          <a:prstGeom prst="chevron">
            <a:avLst/>
          </a:prstGeom>
          <a:solidFill>
            <a:srgbClr val="B9C4D4"/>
          </a:solidFill>
          <a:ln/>
        </p:spPr>
      </p:sp>
      <p:sp>
        <p:nvSpPr>
          <p:cNvPr id="24" name="Shape 22"/>
          <p:cNvSpPr/>
          <p:nvPr/>
        </p:nvSpPr>
        <p:spPr>
          <a:xfrm>
            <a:off x="9555480" y="283464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D64550"/>
          </a:solidFill>
          <a:ln/>
        </p:spPr>
      </p:sp>
      <p:sp>
        <p:nvSpPr>
          <p:cNvPr id="25" name="Text 23"/>
          <p:cNvSpPr/>
          <p:nvPr/>
        </p:nvSpPr>
        <p:spPr>
          <a:xfrm>
            <a:off x="9692640" y="2926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8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665208" y="324612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665208" y="4206240"/>
            <a:ext cx="1746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Akurasi, presisi, recall, F1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" y="4754880"/>
            <a:ext cx="108539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tahap dirancang agar fitur numerik dan kategorikal dapat dibandingkan secara adil dalam perhitungan jarak, sehingga model KNN menghasilkan klasifikasi yang objektif.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7512" y="5120640"/>
            <a:ext cx="10853928" cy="1097280"/>
          </a:xfrm>
          <a:prstGeom prst="roundRect">
            <a:avLst>
              <a:gd name="adj" fmla="val 7500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" y="5120640"/>
            <a:ext cx="102138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tambahan: model diuji 200 kali dengan pembagian data acak berbeda (validasi stabilitas), dan nilai k diuji dari 1 sampai 20 (analisis sensitivitas) — memastikan hasil tidak kebetulan.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 Tingkat Keparahan Kecelakaan Lalu Lintas Menggunakan K-Nearest Neighbor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DATASET &amp; METODOLOGI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Ringkasan dataset kecelakaan lalu lintas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terdiri atas 300 catatan kecelakaan dengan 10 atribut prediktor dan 1 atribut target (tingkat keparahan), menunjukkan distribusi kelas yang sedikit tidak seimbang.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240280"/>
          <a:ext cx="6035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903720" y="2240280"/>
            <a:ext cx="4709160" cy="1115568"/>
          </a:xfrm>
          <a:prstGeom prst="roundRect">
            <a:avLst>
              <a:gd name="adj" fmla="val 7377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03720" y="2240280"/>
            <a:ext cx="109728" cy="1115568"/>
          </a:xfrm>
          <a:prstGeom prst="rect">
            <a:avLst/>
          </a:prstGeom>
          <a:solidFill>
            <a:srgbClr val="A62639"/>
          </a:solidFill>
          <a:ln/>
        </p:spPr>
      </p:sp>
      <p:sp>
        <p:nvSpPr>
          <p:cNvPr id="8" name="Text 5"/>
          <p:cNvSpPr/>
          <p:nvPr/>
        </p:nvSpPr>
        <p:spPr>
          <a:xfrm>
            <a:off x="7178040" y="2368296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6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41.7%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778240" y="2423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Meninggal Dunia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778240" y="28072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data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903720" y="3538728"/>
            <a:ext cx="4709160" cy="1115568"/>
          </a:xfrm>
          <a:prstGeom prst="roundRect">
            <a:avLst>
              <a:gd name="adj" fmla="val 7377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903720" y="3538728"/>
            <a:ext cx="109728" cy="1115568"/>
          </a:xfrm>
          <a:prstGeom prst="rect">
            <a:avLst/>
          </a:prstGeom>
          <a:solidFill>
            <a:srgbClr val="1F4287"/>
          </a:solidFill>
          <a:ln/>
        </p:spPr>
      </p:sp>
      <p:sp>
        <p:nvSpPr>
          <p:cNvPr id="13" name="Text 10"/>
          <p:cNvSpPr/>
          <p:nvPr/>
        </p:nvSpPr>
        <p:spPr>
          <a:xfrm>
            <a:off x="7178040" y="3666744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2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38.3%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778240" y="3721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Luka Berat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778240" y="410565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data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903720" y="4837176"/>
            <a:ext cx="4709160" cy="1115568"/>
          </a:xfrm>
          <a:prstGeom prst="roundRect">
            <a:avLst>
              <a:gd name="adj" fmla="val 7377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903720" y="4837176"/>
            <a:ext cx="109728" cy="1115568"/>
          </a:xfrm>
          <a:prstGeom prst="rect">
            <a:avLst/>
          </a:prstGeom>
          <a:solidFill>
            <a:srgbClr val="8FA6CC"/>
          </a:solidFill>
          <a:ln/>
        </p:spPr>
      </p:sp>
      <p:sp>
        <p:nvSpPr>
          <p:cNvPr id="18" name="Text 15"/>
          <p:cNvSpPr/>
          <p:nvPr/>
        </p:nvSpPr>
        <p:spPr>
          <a:xfrm>
            <a:off x="7178040" y="4965192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FA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20.0%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8778240" y="502005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Luka Ringan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8778240" y="540410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data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 Tingkat Keparahan Kecelakaan Lalu Lintas Menggunakan K-Nearest Neighbor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DATASET &amp; METODOLOGI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Sepuluh fitur prediktor yang digunakan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14285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77640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Deskripsi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098280" y="15544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383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Victim_Age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977640" y="2011680"/>
            <a:ext cx="50292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Usia korban (tahun)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01200" y="2093976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E3EAF3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0" y="209397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446020"/>
            <a:ext cx="11064240" cy="4343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46020"/>
            <a:ext cx="3383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977640" y="2446020"/>
            <a:ext cx="50292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kelamin (Pria/Wanita)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601200" y="2528316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BE4E6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0" y="252831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6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Kategorikal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31520" y="2880360"/>
            <a:ext cx="3383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Time_of_Occurrence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77640" y="2880360"/>
            <a:ext cx="50292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 kejadian (0–23)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601200" y="2962656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E3EAF3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0" y="296265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314700"/>
            <a:ext cx="11064240" cy="4343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314700"/>
            <a:ext cx="3383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Time_Period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977640" y="3314700"/>
            <a:ext cx="50292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Pagi/Siang/Sore/Malam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601200" y="3396996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BE4E6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0" y="339699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6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Kategorikal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3749040"/>
            <a:ext cx="3383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Vehicle_Type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977640" y="3749040"/>
            <a:ext cx="50292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Motor, Mobil, Truk, Bus, Sepeda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601200" y="3831336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BE4E6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0" y="383133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6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Kategorikal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4183380"/>
            <a:ext cx="11064240" cy="4343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183380"/>
            <a:ext cx="3383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Weather_Condition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977640" y="4183380"/>
            <a:ext cx="50292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Cerah, Hujan, Berkabut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601200" y="4265676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BE4E6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0" y="426567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6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Kategorikal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31520" y="4617720"/>
            <a:ext cx="3383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Road_Type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977640" y="4617720"/>
            <a:ext cx="50292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Urban, Rural, Antarkota, Tol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601200" y="4700016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BE4E6"/>
          </a:solidFill>
          <a:ln/>
        </p:spPr>
      </p:sp>
      <p:sp>
        <p:nvSpPr>
          <p:cNvPr id="38" name="Text 36"/>
          <p:cNvSpPr/>
          <p:nvPr/>
        </p:nvSpPr>
        <p:spPr>
          <a:xfrm>
            <a:off x="9601200" y="470001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6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Kategorikal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" y="5052060"/>
            <a:ext cx="11064240" cy="4343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5052060"/>
            <a:ext cx="3383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Safety_Equipment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977640" y="5052060"/>
            <a:ext cx="50292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Penggunaan alat keselamatan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601200" y="5134356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BE4E6"/>
          </a:solidFill>
          <a:ln/>
        </p:spPr>
      </p:sp>
      <p:sp>
        <p:nvSpPr>
          <p:cNvPr id="43" name="Text 41"/>
          <p:cNvSpPr/>
          <p:nvPr/>
        </p:nvSpPr>
        <p:spPr>
          <a:xfrm>
            <a:off x="9601200" y="513435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6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Kategorikal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31520" y="5486400"/>
            <a:ext cx="3383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Speed_Kmh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3977640" y="5486400"/>
            <a:ext cx="50292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Kecepatan kendaraan (km/jam)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601200" y="5568696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E3EAF3"/>
          </a:solidFill>
          <a:ln/>
        </p:spPr>
      </p:sp>
      <p:sp>
        <p:nvSpPr>
          <p:cNvPr id="47" name="Text 45"/>
          <p:cNvSpPr/>
          <p:nvPr/>
        </p:nvSpPr>
        <p:spPr>
          <a:xfrm>
            <a:off x="9601200" y="556869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Numerik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48640" y="5920740"/>
            <a:ext cx="11064240" cy="4343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9" name="Text 47"/>
          <p:cNvSpPr/>
          <p:nvPr/>
        </p:nvSpPr>
        <p:spPr>
          <a:xfrm>
            <a:off x="731520" y="5920740"/>
            <a:ext cx="3383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Vehicles_Involved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3977640" y="5920740"/>
            <a:ext cx="50292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kendaraan terlibat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9601200" y="6003036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E3EAF3"/>
          </a:solidFill>
          <a:ln/>
        </p:spPr>
      </p:sp>
      <p:sp>
        <p:nvSpPr>
          <p:cNvPr id="52" name="Text 50"/>
          <p:cNvSpPr/>
          <p:nvPr/>
        </p:nvSpPr>
        <p:spPr>
          <a:xfrm>
            <a:off x="9601200" y="600303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Numerik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12700">
            <a:solidFill>
              <a:srgbClr val="D9DEE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 Tingkat Keparahan Kecelakaan Lalu Lintas Menggunakan K-Nearest Neighbor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DATASET &amp; METODOLOGI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Tahapan pra-pemrosesan data (preprocessing)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42416"/>
          </a:xfrm>
          <a:prstGeom prst="roundRect">
            <a:avLst>
              <a:gd name="adj" fmla="val 7895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47088"/>
            <a:ext cx="548640" cy="548640"/>
          </a:xfrm>
          <a:prstGeom prst="ellipse">
            <a:avLst/>
          </a:prstGeom>
          <a:solidFill>
            <a:srgbClr val="1F428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47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719072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kolom ID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0" y="1691640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“No” dihapus karena hanya identifier, tidak punya nilai prediktif.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07208"/>
            <a:ext cx="11064240" cy="1042416"/>
          </a:xfrm>
          <a:prstGeom prst="roundRect">
            <a:avLst>
              <a:gd name="adj" fmla="val 7895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054096"/>
            <a:ext cx="548640" cy="548640"/>
          </a:xfrm>
          <a:prstGeom prst="ellipse">
            <a:avLst/>
          </a:prstGeom>
          <a:solidFill>
            <a:srgbClr val="1F428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540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29260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289864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fitur kategorikal (Gender, Time Period, Vehicle Type, Weather, Road Type, Safety Equipment) diubah menjadi angka.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14216"/>
            <a:ext cx="11064240" cy="1042416"/>
          </a:xfrm>
          <a:prstGeom prst="roundRect">
            <a:avLst>
              <a:gd name="adj" fmla="val 7895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1104"/>
            <a:ext cx="548640" cy="548640"/>
          </a:xfrm>
          <a:prstGeom prst="ellipse">
            <a:avLst/>
          </a:prstGeom>
          <a:solidFill>
            <a:srgbClr val="1F4287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11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0200" y="413308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Standardisasi (Z-score)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4105656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fitur numerik distandardisasi dengan StandardScaler agar setiap fitur berkontribusi setara dalam perhitungan jarak Euclidean.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221224"/>
            <a:ext cx="11064240" cy="1042416"/>
          </a:xfrm>
          <a:prstGeom prst="roundRect">
            <a:avLst>
              <a:gd name="adj" fmla="val 7895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468112"/>
            <a:ext cx="548640" cy="54864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468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00200" y="5340096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80:20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0" y="5312664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dibagi menjadi 240 data latih (training) dan 60 data uji (testing) secara stratified.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 Tingkat Keparahan Kecelakaan Lalu Lintas Menggunakan K-Nearest Neighbor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DATASET &amp; METODOLOGI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Konfigurasi model KNN yang digunakan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K-Nearest Neighbor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25112" y="169164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142850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18745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TETANGGA (K)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53712" y="22860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8101584" y="169164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30184" y="18745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METRIC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330184" y="22860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Minkowski (p=2, Euclidean)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639312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8221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FUNCTION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4233672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2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Uniform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4325112" y="3639312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38221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FITUR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53712" y="4233672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2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8101584" y="3639312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0184" y="38221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TRAINING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30184" y="4233672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2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240 data (80%)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548640" y="5586984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76986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TESTING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6181344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2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data (20%)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 Tingkat Keparahan Kecelakaan Lalu Lintas Menggunakan K-Nearest Neighbor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HASIL &amp; ANALISIS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Stabilitas model: 200 percobaan acak (k = 5)</a:t>
            </a:r>
            <a:endParaRPr lang="en-US" sz="3000" dirty="0"/>
          </a:p>
        </p:txBody>
      </p:sp>
      <p:pic>
        <p:nvPicPr>
          <p:cNvPr id="4" name="Image 0" descr="/home/claude/work/fig1_fin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949440" cy="26791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6949440" cy="2679192"/>
          </a:xfrm>
          <a:prstGeom prst="rect">
            <a:avLst/>
          </a:prstGeom>
          <a:ln w="12700">
            <a:solidFill>
              <a:srgbClr val="D9DE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3434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akurasi pada 200 kali pembagian data latih/uji secara acak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772400" y="1600200"/>
            <a:ext cx="3840480" cy="1005840"/>
          </a:xfrm>
          <a:prstGeom prst="roundRect">
            <a:avLst>
              <a:gd name="adj" fmla="val 8182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01000" y="16916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2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54.35%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9509760" y="16002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Akurasi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772400" y="2770632"/>
            <a:ext cx="3840480" cy="1005840"/>
          </a:xfrm>
          <a:prstGeom prst="roundRect">
            <a:avLst>
              <a:gd name="adj" fmla="val 8182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01000" y="2862072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6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6.09%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9509760" y="2770632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 Deviasi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72400" y="3941064"/>
            <a:ext cx="3840480" cy="1005840"/>
          </a:xfrm>
          <a:prstGeom prst="roundRect">
            <a:avLst>
              <a:gd name="adj" fmla="val 8182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01000" y="4032504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2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70.00%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9509760" y="3941064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Maksimum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772400" y="5111496"/>
            <a:ext cx="3840480" cy="1005840"/>
          </a:xfrm>
          <a:prstGeom prst="roundRect">
            <a:avLst>
              <a:gd name="adj" fmla="val 8182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01000" y="5202936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6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38.33%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9509760" y="5111496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Minimum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48640" y="470916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 akurasi yang cukup lebar menunjukkan performa model sensitif terhadap cara data dibagi — wajar terjadi mengingat ukuran dataset (300 data) relatif terbatas dibanding jumlah kelas dan fitur.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 Tingkat Keparahan Kecelakaan Lalu Lintas Menggunakan K-Nearest Neighbor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HASIL &amp; ANALISIS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Pengaruh nilai k terhadap akurasi klasifikasi</a:t>
            </a:r>
            <a:endParaRPr lang="en-US" sz="3000" dirty="0"/>
          </a:p>
        </p:txBody>
      </p:sp>
      <p:pic>
        <p:nvPicPr>
          <p:cNvPr id="4" name="Image 0" descr="/home/claude/work/fig2_crop_te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583680" cy="3813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6583680" cy="3813048"/>
          </a:xfrm>
          <a:prstGeom prst="rect">
            <a:avLst/>
          </a:prstGeom>
          <a:ln w="12700">
            <a:solidFill>
              <a:srgbClr val="D9DE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544068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sensitivitas k = 1 s.d. 20 pada split stratified 80:20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52360" y="1600200"/>
            <a:ext cx="4160520" cy="868680"/>
          </a:xfrm>
          <a:prstGeom prst="roundRect">
            <a:avLst>
              <a:gd name="adj" fmla="val 9474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0" y="160020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7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823960" y="167335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76.67%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823960" y="20391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Terbaik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452360" y="2624328"/>
            <a:ext cx="4160520" cy="868680"/>
          </a:xfrm>
          <a:prstGeom prst="roundRect">
            <a:avLst>
              <a:gd name="adj" fmla="val 9474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0" y="2624328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6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823960" y="2697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73.33%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823960" y="3063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452360" y="3648456"/>
            <a:ext cx="4160520" cy="868680"/>
          </a:xfrm>
          <a:prstGeom prst="roundRect">
            <a:avLst>
              <a:gd name="adj" fmla="val 9474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80960" y="3648456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8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823960" y="37216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71.67%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823960" y="40873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Ketiga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452360" y="4672584"/>
            <a:ext cx="4160520" cy="868680"/>
          </a:xfrm>
          <a:prstGeom prst="roundRect">
            <a:avLst>
              <a:gd name="adj" fmla="val 9474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80960" y="4672584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5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8823960" y="474573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823960" y="511149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Dipakai di model final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452360" y="5486400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7 memberikan rata-rata terbaik (76.67%), sedikit lebih tinggi dari k = 5 yang dipakai pada model akhir (70.00%) — mengindikasikan ruang perbaikan kecil pada pemilihan k.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 Tingkat Keparahan Kecelakaan Lalu Lintas Menggunakan K-Nearest Neighbor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HASIL &amp; ANALISIS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 model final (k = 5) pada data uji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46120" cy="4160520"/>
          </a:xfrm>
          <a:prstGeom prst="roundRect">
            <a:avLst>
              <a:gd name="adj" fmla="val 2817"/>
            </a:avLst>
          </a:prstGeom>
          <a:solidFill>
            <a:srgbClr val="14285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spc="100" kern="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b="1" spc="100" kern="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KESELURUHAN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62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2468880" cy="0"/>
          </a:xfrm>
          <a:prstGeom prst="line">
            <a:avLst/>
          </a:prstGeom>
          <a:noFill/>
          <a:ln w="12700">
            <a:solidFill>
              <a:srgbClr val="3A50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794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60 data uji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(stratified 80:20 split)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4572000"/>
            <a:ext cx="2468880" cy="0"/>
          </a:xfrm>
          <a:prstGeom prst="line">
            <a:avLst/>
          </a:prstGeom>
          <a:noFill/>
          <a:ln w="12700">
            <a:solidFill>
              <a:srgbClr val="3A50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7091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terbaik: 0.82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kelas Fatal / Meninggal Dunia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60520" y="1600200"/>
            <a:ext cx="7452360" cy="457200"/>
          </a:xfrm>
          <a:prstGeom prst="roundRect">
            <a:avLst>
              <a:gd name="adj" fmla="val 12000"/>
            </a:avLst>
          </a:prstGeom>
          <a:solidFill>
            <a:srgbClr val="A62639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16002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92240" y="1600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0" y="1600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052560" y="1600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332720" y="1600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343400" y="205740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Luka Berat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92240" y="205740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0" y="205740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052560" y="205740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332720" y="205740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160520" y="2624328"/>
            <a:ext cx="7452360" cy="56692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3" name="Text 21"/>
          <p:cNvSpPr/>
          <p:nvPr/>
        </p:nvSpPr>
        <p:spPr>
          <a:xfrm>
            <a:off x="4343400" y="2624328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Luka Ringan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92240" y="2624328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772400" y="2624328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052560" y="2624328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332720" y="2624328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160520" y="3191256"/>
            <a:ext cx="73152" cy="566928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29" name="Text 27"/>
          <p:cNvSpPr/>
          <p:nvPr/>
        </p:nvSpPr>
        <p:spPr>
          <a:xfrm>
            <a:off x="4343400" y="3191256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Meninggal Dunia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92240" y="3191256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772400" y="3191256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052560" y="3191256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332720" y="3191256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160520" y="3758184"/>
            <a:ext cx="7452360" cy="566928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35" name="Text 33"/>
          <p:cNvSpPr/>
          <p:nvPr/>
        </p:nvSpPr>
        <p:spPr>
          <a:xfrm>
            <a:off x="4343400" y="3758184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avg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492240" y="375818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772400" y="375818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052560" y="375818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332720" y="375818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160520" y="4325112"/>
            <a:ext cx="7452360" cy="566928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41" name="Text 39"/>
          <p:cNvSpPr/>
          <p:nvPr/>
        </p:nvSpPr>
        <p:spPr>
          <a:xfrm>
            <a:off x="4343400" y="4325112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avg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492240" y="4325112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772400" y="4325112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9052560" y="4325112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10332720" y="4325112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4160520" y="4892040"/>
            <a:ext cx="7452360" cy="0"/>
          </a:xfrm>
          <a:prstGeom prst="line">
            <a:avLst/>
          </a:prstGeom>
          <a:noFill/>
          <a:ln w="12700">
            <a:solidFill>
              <a:srgbClr val="D9DE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60520" y="5120640"/>
            <a:ext cx="7452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paling akurat mengenali kasus Meninggal Dunia (F1 = 0.82), sedangkan kelas Luka Ringan memiliki precision terendah (0.53) karena tumpang tindih karakteristik dengan kelas lain.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 Tingkat Keparahan Kecelakaan Lalu Lintas Menggunakan K-Nearest Neighbor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HASIL &amp; ANALISIS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model final (k = 5)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0" y="141732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0" y="158191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Luka Berat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617720" y="158191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Luka Ringan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92240" y="158191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Meninggal Dunia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36576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96596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Luka Berat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0" y="1965960"/>
            <a:ext cx="1819656" cy="996696"/>
          </a:xfrm>
          <a:prstGeom prst="rect">
            <a:avLst/>
          </a:prstGeom>
          <a:solidFill>
            <a:srgbClr val="142850">
              <a:alpha val="68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965960"/>
            <a:ext cx="1819656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617720" y="1965960"/>
            <a:ext cx="1819656" cy="996696"/>
          </a:xfrm>
          <a:prstGeom prst="rect">
            <a:avLst/>
          </a:prstGeom>
          <a:solidFill>
            <a:srgbClr val="D64550">
              <a:alpha val="36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965960"/>
            <a:ext cx="1819656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6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492240" y="1965960"/>
            <a:ext cx="1819656" cy="996696"/>
          </a:xfrm>
          <a:prstGeom prst="rect">
            <a:avLst/>
          </a:prstGeom>
          <a:solidFill>
            <a:srgbClr val="D64550">
              <a:alpha val="24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965960"/>
            <a:ext cx="1819656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6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60120" y="301752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Luka Ringan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0" y="3017520"/>
            <a:ext cx="1819656" cy="996696"/>
          </a:xfrm>
          <a:prstGeom prst="rect">
            <a:avLst/>
          </a:prstGeom>
          <a:solidFill>
            <a:srgbClr val="D64550">
              <a:alpha val="24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3017520"/>
            <a:ext cx="1819656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6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4617720" y="3017520"/>
            <a:ext cx="1819656" cy="996696"/>
          </a:xfrm>
          <a:prstGeom prst="rect">
            <a:avLst/>
          </a:prstGeom>
          <a:solidFill>
            <a:srgbClr val="142850">
              <a:alpha val="44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3017520"/>
            <a:ext cx="1819656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492240" y="3017520"/>
            <a:ext cx="1819656" cy="996696"/>
          </a:xfrm>
          <a:prstGeom prst="rect">
            <a:avLst/>
          </a:prstGeom>
          <a:solidFill>
            <a:srgbClr val="D64550">
              <a:alpha val="16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017520"/>
            <a:ext cx="1819656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6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60120" y="406908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Meninggal Dunia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743200" y="4069080"/>
            <a:ext cx="1819656" cy="996696"/>
          </a:xfrm>
          <a:prstGeom prst="rect">
            <a:avLst/>
          </a:prstGeom>
          <a:solidFill>
            <a:srgbClr val="D64550">
              <a:alpha val="28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4069080"/>
            <a:ext cx="1819656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6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4617720" y="4069080"/>
            <a:ext cx="1819656" cy="996696"/>
          </a:xfrm>
          <a:prstGeom prst="rect">
            <a:avLst/>
          </a:prstGeom>
          <a:solidFill>
            <a:srgbClr val="D64550">
              <a:alpha val="16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4069080"/>
            <a:ext cx="1819656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6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6492240" y="4069080"/>
            <a:ext cx="1819656" cy="996696"/>
          </a:xfrm>
          <a:prstGeom prst="rect">
            <a:avLst/>
          </a:prstGeom>
          <a:solidFill>
            <a:srgbClr val="142850">
              <a:alpha val="92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4069080"/>
            <a:ext cx="1819656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8915400" y="1965960"/>
            <a:ext cx="2743200" cy="365760"/>
          </a:xfrm>
          <a:prstGeom prst="roundRect">
            <a:avLst>
              <a:gd name="adj" fmla="val 15000"/>
            </a:avLst>
          </a:prstGeom>
          <a:solidFill>
            <a:srgbClr val="142850"/>
          </a:solidFill>
          <a:ln/>
        </p:spPr>
      </p:sp>
      <p:sp>
        <p:nvSpPr>
          <p:cNvPr id="31" name="Text 29"/>
          <p:cNvSpPr/>
          <p:nvPr/>
        </p:nvSpPr>
        <p:spPr>
          <a:xfrm>
            <a:off x="8915400" y="1965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 benar (diagonal)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915400" y="2423160"/>
            <a:ext cx="2743200" cy="365760"/>
          </a:xfrm>
          <a:prstGeom prst="roundRect">
            <a:avLst>
              <a:gd name="adj" fmla="val 15000"/>
            </a:avLst>
          </a:prstGeom>
          <a:solidFill>
            <a:srgbClr val="D64550"/>
          </a:solidFill>
          <a:ln/>
        </p:spPr>
      </p:sp>
      <p:sp>
        <p:nvSpPr>
          <p:cNvPr id="33" name="Text 31"/>
          <p:cNvSpPr/>
          <p:nvPr/>
        </p:nvSpPr>
        <p:spPr>
          <a:xfrm>
            <a:off x="8915400" y="2423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klasifikasi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915400" y="3017520"/>
            <a:ext cx="2743200" cy="182880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98280" y="3154680"/>
            <a:ext cx="23774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dari 60 data uji diklasifikasikan dengan benar (70%). Kelas Luka Berat paling sering keliru terprediksi sebagai Luka Ringan atau Meninggal Dunia.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14400" y="55321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Tumpang tindih ini mencerminkan sifat keparahan kecelakaan yang cenderung kontinu — batas antar tingkat keparahan tidak selalu tegas dari atribut yang tercatat.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 Tingkat Keparahan Kecelakaan Lalu Lintas Menggunakan K-Nearest Neighbor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8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1F428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4572000" cy="4572000"/>
          </a:xfrm>
          <a:prstGeom prst="ellipse">
            <a:avLst/>
          </a:prstGeom>
          <a:solidFill>
            <a:srgbClr val="D64550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KESIMPULAN &amp; SARAN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 dan arah pengembangan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532120" cy="4617720"/>
          </a:xfrm>
          <a:prstGeom prst="roundRect">
            <a:avLst>
              <a:gd name="adj" fmla="val 198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A50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2276856"/>
            <a:ext cx="128016" cy="128016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112264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3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KNN (k=5, Euclidean) mencapai akurasi uji 70.00%, dengan performa terbaik pada kelas Meninggal Dunia (F1 = 0.82).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236976"/>
            <a:ext cx="128016" cy="128016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072384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3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Stabilitas 200 percobaan acak menunjukkan rata-rata akurasi 54.35% (SD = 6.09%) — performa cukup sensitif terhadap pembagian data.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4197096"/>
            <a:ext cx="128016" cy="128016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032504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3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sensitivitas mengindikasikan k = 7 sedikit lebih baik (76.67%) dibanding k = 5 yang dipakai pada model akhir.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5157216"/>
            <a:ext cx="128016" cy="128016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992624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3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terbukti menjadi metode baseline yang layak untuk klasifikasi keparahan kecelakaan dan mendukung keputusan berbasis data.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1554480"/>
            <a:ext cx="5303520" cy="4617720"/>
          </a:xfrm>
          <a:prstGeom prst="roundRect">
            <a:avLst>
              <a:gd name="adj" fmla="val 1980"/>
            </a:avLst>
          </a:prstGeom>
          <a:solidFill>
            <a:srgbClr val="D64550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 Pengembangan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629400" y="22860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78040" y="2231136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 fitur &amp; jumlah data untuk memperkuat generalisasi model.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29400" y="32278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3227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78040" y="3172968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Menguji metrik jarak alternatif selain Euclidean.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29400" y="41696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4169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411480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penanganan class-imbalance (misal SMOTE).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29400" y="511149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5111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78040" y="5056632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Membandingkan dengan algoritma lain: Random Forest, SVM.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263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48640" y="66294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Riko Dyansyah  ·  1462400002  ·  Teknik Informatika UNTAG Surabaya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2026-07-21T07:41:20Z</dcterms:created>
  <dcterms:modified xsi:type="dcterms:W3CDTF">2026-07-21T07:41:20Z</dcterms:modified>
</cp:coreProperties>
</file>